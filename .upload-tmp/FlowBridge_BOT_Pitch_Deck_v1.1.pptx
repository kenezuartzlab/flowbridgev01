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6612" y="676721"/>
            <a:ext cx="209857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FLOWBRIDGE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9864"/>
            <a:ext cx="3831907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BOT Chain Ecosystem Growth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36662"/>
            <a:ext cx="4956302" cy="43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MAINNET LIVE | PRIVATE REVIEWER PACKAGE | 11 Oct 2026</a:t>
            </a:r>
          </a:p>
          <a:p>
            <a:r>
              <a:rPr sz="1500" b="1">
                <a:solidFill>
                  <a:srgbClr val="FFFFFF"/>
                </a:solidFill>
              </a:rPr>
              <a:t>APPLICATION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20862"/>
            <a:ext cx="821620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APPLICATION: READY TO SUBMIT</a:t>
            </a:r>
          </a:p>
          <a:p>
            <a:r>
              <a:rPr sz="1300" b="0">
                <a:solidFill>
                  <a:srgbClr val="FFFFFF"/>
                </a:solidFill>
              </a:rPr>
              <a:t>REQUESTEDSUPPORT: OPTION A - DEX LIQUIDITY SUPPORT</a:t>
            </a:r>
          </a:p>
          <a:p>
            <a:r>
              <a:rPr sz="1300" b="0">
                <a:solidFill>
                  <a:srgbClr val="FFFFFF"/>
                </a:solidFill>
              </a:rPr>
              <a:t>PROGRAM: NOT YET APPROVED / MONITORING NOT YET STARTED</a:t>
            </a:r>
          </a:p>
          <a:p>
            <a:r>
              <a:rPr sz="1300" b="0">
                <a:solidFill>
                  <a:srgbClr val="FFFFFF"/>
                </a:solidFill>
              </a:rPr>
              <a:t>QUALIFICATION: PENDING PROGRAM ONBOARDING</a:t>
            </a:r>
          </a:p>
          <a:p>
            <a:r>
              <a:rPr sz="1300" b="0">
                <a:solidFill>
                  <a:srgbClr val="FFFFFF"/>
                </a:solidFill>
              </a:rPr>
              <a:t>MONITORINGWINDOW: TO BE CONFIRMED BY BOT CHAIN AFTER APPROVAL</a:t>
            </a:r>
          </a:p>
          <a:p>
            <a:r>
              <a:rPr sz="1300" b="0">
                <a:solidFill>
                  <a:srgbClr val="FFFFFF"/>
                </a:solidFill>
              </a:rPr>
              <a:t>ACTIVITY: SUPPORTING PROOF OF MAINNET READINESS AND GENUINE ECOSYSTEM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95662"/>
            <a:ext cx="10921034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FlowBridge is applying for Option A - DEX Liquidity Support. We are submitting the project's production deployment, technical</a:t>
            </a:r>
          </a:p>
          <a:p>
            <a:r>
              <a:rPr sz="1300" b="0">
                <a:solidFill>
                  <a:srgbClr val="FFFFFF"/>
                </a:solidFill>
              </a:rPr>
              <a:t>architecture, verified contracts, on-chain evidence, ecosystem contribution and mainnet readiness for BOT Chain's evaluation. Any</a:t>
            </a:r>
          </a:p>
          <a:p>
            <a:r>
              <a:rPr sz="1300" b="0">
                <a:solidFill>
                  <a:srgbClr val="FFFFFF"/>
                </a:solidFill>
              </a:rPr>
              <a:t>support level, incentive allocation, rebate, points or other program benefit will be determined by BOT Chain according to its current</a:t>
            </a:r>
          </a:p>
          <a:p>
            <a:r>
              <a:rPr sz="1300" b="0">
                <a:solidFill>
                  <a:srgbClr val="FFFFFF"/>
                </a:solidFill>
              </a:rPr>
              <a:t>program rules and review process.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9277467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The Problem: BOT Chain participation is still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6620619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Users should not need to understand every protocol detail before they can safely participate.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595" y="1755327"/>
            <a:ext cx="958725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1.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595" y="2093809"/>
            <a:ext cx="2054345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Which asset? Which route? Which </a:t>
            </a:r>
          </a:p>
          <a:p>
            <a:r>
              <a:rPr sz="1020" b="0">
                <a:solidFill>
                  <a:srgbClr val="C9D5DF"/>
                </a:solidFill>
              </a:rPr>
              <a:t>DEX? Which bridge?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2075" y="1755327"/>
            <a:ext cx="89363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2.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075" y="2093809"/>
            <a:ext cx="2166451" cy="48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Connect, approve, swap, bridge, </a:t>
            </a:r>
          </a:p>
          <a:p>
            <a:r>
              <a:rPr sz="1020" b="0">
                <a:solidFill>
                  <a:srgbClr val="C9D5DF"/>
                </a:solidFill>
              </a:rPr>
              <a:t>stake, claim - often across separate </a:t>
            </a:r>
          </a:p>
          <a:p>
            <a:r>
              <a:rPr sz="1020" b="0">
                <a:solidFill>
                  <a:srgbClr val="C9D5DF"/>
                </a:solidFill>
              </a:rPr>
              <a:t>products.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555" y="1755327"/>
            <a:ext cx="721488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3.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555" y="2093809"/>
            <a:ext cx="2124980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Did it settle? Is the amount real? Is </a:t>
            </a:r>
          </a:p>
          <a:p>
            <a:r>
              <a:rPr sz="1020" b="0">
                <a:solidFill>
                  <a:srgbClr val="C9D5DF"/>
                </a:solidFill>
              </a:rPr>
              <a:t>this reward actually claimable?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036" y="1755327"/>
            <a:ext cx="813430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4.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7036" y="2093809"/>
            <a:ext cx="1998096" cy="48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Most users leave after the </a:t>
            </a:r>
          </a:p>
          <a:p>
            <a:r>
              <a:rPr sz="1020" b="0">
                <a:solidFill>
                  <a:srgbClr val="C9D5DF"/>
                </a:solidFill>
              </a:rPr>
              <a:t>transaction instead of becoming </a:t>
            </a:r>
          </a:p>
          <a:p>
            <a:r>
              <a:rPr sz="1020" b="0">
                <a:solidFill>
                  <a:srgbClr val="C9D5DF"/>
                </a:solidFill>
              </a:rPr>
              <a:t>ecosystem participants.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519" y="5246713"/>
            <a:ext cx="9854715" cy="31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7FA"/>
                </a:solidFill>
              </a:rPr>
              <a:t>FlowBridge turns these steps into one guided, evidence-backed journey while keeping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3474" y="5521032"/>
            <a:ext cx="2373324" cy="31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7FA"/>
                </a:solidFill>
              </a:rPr>
              <a:t>the wallet in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8215790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One application, multiple BOT Chain growth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6514324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FlowBridge combines transaction utility with retention, education and ecosystem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595" y="1663887"/>
            <a:ext cx="49670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595" y="2002368"/>
            <a:ext cx="3076138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Live BDEX V3 routing, direct + protected multi-hop </a:t>
            </a:r>
          </a:p>
          <a:p>
            <a:r>
              <a:rPr sz="1020" b="0">
                <a:solidFill>
                  <a:srgbClr val="C9D5DF"/>
                </a:solidFill>
              </a:rPr>
              <a:t>quotes, price-impact and circuit-breaker controls.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635" y="1663887"/>
            <a:ext cx="585265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635" y="2002368"/>
            <a:ext cx="2773255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Guided access to the official BOT Bridge with </a:t>
            </a:r>
          </a:p>
          <a:p>
            <a:r>
              <a:rPr sz="1020" b="0">
                <a:solidFill>
                  <a:srgbClr val="C9D5DF"/>
                </a:solidFill>
              </a:rPr>
              <a:t>explicit user signing and settlement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676" y="1663887"/>
            <a:ext cx="498480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Stake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676" y="2002368"/>
            <a:ext cx="2882123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Flexible and locked Genesis/floor staking using </a:t>
            </a:r>
          </a:p>
          <a:p>
            <a:r>
              <a:rPr sz="1020" b="0">
                <a:solidFill>
                  <a:srgbClr val="C9D5DF"/>
                </a:solidFill>
              </a:rPr>
              <a:t>funded, deployed BOT Mainnet contracts.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595" y="3355527"/>
            <a:ext cx="757768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595" y="3694009"/>
            <a:ext cx="3051903" cy="48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Finite campaign allocations, Merkle/epoch claims, </a:t>
            </a:r>
          </a:p>
          <a:p>
            <a:r>
              <a:rPr sz="1020" b="0">
                <a:solidFill>
                  <a:srgbClr val="C9D5DF"/>
                </a:solidFill>
              </a:rPr>
              <a:t>no fabricated entitlement or Points-to-FLOW </a:t>
            </a:r>
          </a:p>
          <a:p>
            <a:r>
              <a:rPr sz="1020" b="0">
                <a:solidFill>
                  <a:srgbClr val="C9D5DF"/>
                </a:solidFill>
              </a:rPr>
              <a:t>shortcut.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635" y="3355527"/>
            <a:ext cx="903418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MultiSend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635" y="3694009"/>
            <a:ext cx="2902340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Distribution, consolidation and advanced batch </a:t>
            </a:r>
          </a:p>
          <a:p>
            <a:r>
              <a:rPr sz="1020" b="0">
                <a:solidFill>
                  <a:srgbClr val="C9D5DF"/>
                </a:solidFill>
              </a:rPr>
              <a:t>transfers with strict safety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676" y="3355527"/>
            <a:ext cx="649463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Flow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676" y="3694009"/>
            <a:ext cx="2997468" cy="48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Education, discovery, guided journeys and action </a:t>
            </a:r>
          </a:p>
          <a:p>
            <a:r>
              <a:rPr sz="1020" b="0">
                <a:solidFill>
                  <a:srgbClr val="C9D5DF"/>
                </a:solidFill>
              </a:rPr>
              <a:t>preparation - advisory only, never custody or </a:t>
            </a:r>
          </a:p>
          <a:p>
            <a:r>
              <a:rPr sz="1020" b="0">
                <a:solidFill>
                  <a:srgbClr val="C9D5DF"/>
                </a:solidFill>
              </a:rPr>
              <a:t>signing.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1122" y="5013070"/>
            <a:ext cx="9594568" cy="31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F59A"/>
                </a:solidFill>
              </a:rPr>
              <a:t>The product goal is not “more clicks.” It is more verified BOT Chain participation per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7874" y="5287390"/>
            <a:ext cx="544525" cy="31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0F59A"/>
                </a:solidFill>
              </a:rPr>
              <a:t>user.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3939698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5615076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Non-custodial execution, canonical evidence and separated on-chain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284" y="6271529"/>
            <a:ext cx="2929043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5F7588"/>
                </a:solidFill>
              </a:rPr>
              <a:t>Source: FlowBridge V30.2B production evidence and deployed-contract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56843" y="676721"/>
            <a:ext cx="5078375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Current deployed mainnet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87660"/>
            <a:ext cx="10803318" cy="1949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Router V3: 0x986962de6f00d0ec571b1a34fa70aeeb445b5445</a:t>
            </a:r>
          </a:p>
          <a:p>
            <a:r>
              <a:rPr sz="1100" b="0">
                <a:solidFill>
                  <a:srgbClr val="FFFFFF"/>
                </a:solidFill>
              </a:rPr>
              <a:t>Router V4: 0x79653140D84B78C19354ee984f236Ec92160fc61</a:t>
            </a:r>
          </a:p>
          <a:p>
            <a:r>
              <a:rPr sz="1100" b="0">
                <a:solidFill>
                  <a:srgbClr val="FFFFFF"/>
                </a:solidFill>
              </a:rPr>
              <a:t>Router Lens: 0xb82038aC3d2df60f5B5fE06D6FDe3CFDd1B76BD0</a:t>
            </a:r>
          </a:p>
          <a:p>
            <a:r>
              <a:rPr sz="1100" b="0">
                <a:solidFill>
                  <a:srgbClr val="FFFFFF"/>
                </a:solidFill>
              </a:rPr>
              <a:t>MultiSend: 0xc54CAcfd96330949db0eAEd72dE930a2d06d9778</a:t>
            </a:r>
          </a:p>
          <a:p>
            <a:r>
              <a:rPr sz="1300" b="0">
                <a:solidFill>
                  <a:srgbClr val="FFFFFF"/>
                </a:solidFill>
              </a:rPr>
              <a:t>FLOW Token, Rewards Distributor, Activity Registry, Staking Treasury / Controller / Vault V2 and three governance Safes complete</a:t>
            </a:r>
          </a:p>
          <a:p>
            <a:r>
              <a:rPr sz="1300" b="0">
                <a:solidFill>
                  <a:srgbClr val="FFFFFF"/>
                </a:solidFill>
              </a:rPr>
              <a:t>the owned/supporting mainnet stack. All current code addresses rechecked. Full addresses, explorer links and source verification</a:t>
            </a:r>
          </a:p>
          <a:p>
            <a:r>
              <a:rPr sz="1300" b="0">
                <a:solidFill>
                  <a:srgbClr val="FFFFFF"/>
                </a:solidFill>
              </a:rPr>
              <a:t>evidence follow in the contract appendix.</a:t>
            </a:r>
          </a:p>
          <a:p>
            <a:r>
              <a:rPr sz="1300" b="0">
                <a:solidFill>
                  <a:srgbClr val="FFFFFF"/>
                </a:solidFill>
              </a:rPr>
              <a:t>BDEX, CaSwap and official BOT Bridge are external integrations. Old unconfigured V4/Lens and quarantined contracts are not</a:t>
            </a:r>
          </a:p>
          <a:p>
            <a:r>
              <a:rPr sz="1300" b="0">
                <a:solidFill>
                  <a:srgbClr val="FFFFFF"/>
                </a:solidFill>
              </a:rPr>
              <a:t>active.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8206545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FLOW economics: fixed supply, explicit allocations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4250141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1,000,000,000 FLOW minted once. No future mint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1155" y="1955993"/>
            <a:ext cx="1607947" cy="22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1" b="1">
                <a:solidFill>
                  <a:srgbClr val="06131F"/>
                </a:solidFill>
              </a:rPr>
              <a:t>100% FIXED SUPPLY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364" y="2755730"/>
            <a:ext cx="754227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Community &amp; Ecosystem</a:t>
            </a:r>
          </a:p>
          <a:p>
            <a:r>
              <a:rPr sz="1199" b="1">
                <a:solidFill>
                  <a:srgbClr val="20F59A"/>
                </a:solidFill>
              </a:rPr>
              <a:t>50%</a:t>
            </a:r>
          </a:p>
          <a:p>
            <a:r>
              <a:rPr sz="1099" b="0">
                <a:solidFill>
                  <a:srgbClr val="C9D5DF"/>
                </a:solidFill>
              </a:rPr>
              <a:t>500,000,000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364" y="3231281"/>
            <a:ext cx="754227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Team &amp; Core Contributors</a:t>
            </a:r>
          </a:p>
          <a:p>
            <a:r>
              <a:rPr sz="1199" b="1">
                <a:solidFill>
                  <a:srgbClr val="58D6FF"/>
                </a:solidFill>
              </a:rPr>
              <a:t>15%</a:t>
            </a:r>
          </a:p>
          <a:p>
            <a:r>
              <a:rPr sz="1099" b="0">
                <a:solidFill>
                  <a:srgbClr val="C9D5DF"/>
                </a:solidFill>
              </a:rPr>
              <a:t>150,000,000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364" y="3706845"/>
            <a:ext cx="754227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Protocol Treasury</a:t>
            </a:r>
          </a:p>
          <a:p>
            <a:r>
              <a:rPr sz="1199" b="1">
                <a:solidFill>
                  <a:srgbClr val="FFD166"/>
                </a:solidFill>
              </a:rPr>
              <a:t>15%</a:t>
            </a:r>
          </a:p>
          <a:p>
            <a:r>
              <a:rPr sz="1099" b="0">
                <a:solidFill>
                  <a:srgbClr val="C9D5DF"/>
                </a:solidFill>
              </a:rPr>
              <a:t>150,000,000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364" y="4182041"/>
            <a:ext cx="754227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Liquidity &amp; Market Infrastructure</a:t>
            </a:r>
          </a:p>
          <a:p>
            <a:r>
              <a:rPr sz="1199" b="1">
                <a:solidFill>
                  <a:srgbClr val="A78BFA"/>
                </a:solidFill>
              </a:rPr>
              <a:t>10%</a:t>
            </a:r>
          </a:p>
          <a:p>
            <a:r>
              <a:rPr sz="1099" b="0">
                <a:solidFill>
                  <a:srgbClr val="C9D5DF"/>
                </a:solidFill>
              </a:rPr>
              <a:t>100,000,000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364" y="4657606"/>
            <a:ext cx="7542394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Strategic Ecosystem Partners</a:t>
            </a:r>
          </a:p>
          <a:p>
            <a:r>
              <a:rPr sz="1199" b="1">
                <a:solidFill>
                  <a:srgbClr val="B9FF66"/>
                </a:solidFill>
              </a:rPr>
              <a:t>5%</a:t>
            </a:r>
          </a:p>
          <a:p>
            <a:r>
              <a:rPr sz="1099" b="0">
                <a:solidFill>
                  <a:srgbClr val="C9D5DF"/>
                </a:solidFill>
              </a:rPr>
              <a:t>50,000,000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364" y="5133170"/>
            <a:ext cx="7542394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F5F7FA"/>
                </a:solidFill>
              </a:rPr>
              <a:t>Security &amp; Contingency</a:t>
            </a:r>
          </a:p>
          <a:p>
            <a:r>
              <a:rPr sz="1199" b="1">
                <a:solidFill>
                  <a:srgbClr val="FF8A80"/>
                </a:solidFill>
              </a:rPr>
              <a:t>5%</a:t>
            </a:r>
          </a:p>
          <a:p>
            <a:r>
              <a:rPr sz="1099" b="0">
                <a:solidFill>
                  <a:srgbClr val="C9D5DF"/>
                </a:solidFill>
              </a:rPr>
              <a:t>50,000,000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1355" y="2898327"/>
            <a:ext cx="1012609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Design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355" y="3236809"/>
            <a:ext cx="1789953" cy="79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Reward inventory, staking </a:t>
            </a:r>
          </a:p>
          <a:p>
            <a:r>
              <a:rPr sz="1020" b="0">
                <a:solidFill>
                  <a:srgbClr val="C9D5DF"/>
                </a:solidFill>
              </a:rPr>
              <a:t>reserve, liquidity reserve and </a:t>
            </a:r>
          </a:p>
          <a:p>
            <a:r>
              <a:rPr sz="1020" b="0">
                <a:solidFill>
                  <a:srgbClr val="C9D5DF"/>
                </a:solidFill>
              </a:rPr>
              <a:t>user principal remain </a:t>
            </a:r>
          </a:p>
          <a:p>
            <a:r>
              <a:rPr sz="1020" b="0">
                <a:solidFill>
                  <a:srgbClr val="C9D5DF"/>
                </a:solidFill>
              </a:rPr>
              <a:t>separate. FLOW Points are </a:t>
            </a:r>
          </a:p>
          <a:p>
            <a:r>
              <a:rPr sz="1020" b="0">
                <a:solidFill>
                  <a:srgbClr val="C9D5DF"/>
                </a:solidFill>
              </a:rPr>
              <a:t>not a 1:1 claim on 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6062064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Live FLOW market + guarded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7073059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The FLOW/USDT BDEX V3 1% pair is live; FlowBridge now discovers and protects the route correctly.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035" y="1663887"/>
            <a:ext cx="151802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BDEX V3 liquidity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035" y="2002368"/>
            <a:ext cx="2310571" cy="79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Live FLOW/USDT pair</a:t>
            </a:r>
          </a:p>
          <a:p>
            <a:r>
              <a:rPr sz="1020" b="0">
                <a:solidFill>
                  <a:srgbClr val="C9D5DF"/>
                </a:solidFill>
              </a:rPr>
              <a:t>1% fee tier</a:t>
            </a:r>
          </a:p>
          <a:p>
            <a:r>
              <a:rPr sz="1020" b="0">
                <a:solidFill>
                  <a:srgbClr val="C9D5DF"/>
                </a:solidFill>
              </a:rPr>
              <a:t>Direct + valid multi-hop quotes</a:t>
            </a:r>
          </a:p>
          <a:p>
            <a:r>
              <a:rPr sz="1020" b="0">
                <a:solidFill>
                  <a:srgbClr val="C9D5DF"/>
                </a:solidFill>
              </a:rPr>
              <a:t>Current bootstrap liquidity</a:t>
            </a:r>
          </a:p>
          <a:p>
            <a:r>
              <a:rPr sz="1020" b="0">
                <a:solidFill>
                  <a:srgbClr val="C9D5DF"/>
                </a:solidFill>
              </a:rPr>
              <a:t>Observation capacity increased to 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5" y="1663887"/>
            <a:ext cx="142715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Protection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5" y="2002368"/>
            <a:ext cx="2793082" cy="798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Normal bounded slippage</a:t>
            </a:r>
          </a:p>
          <a:p>
            <a:r>
              <a:rPr sz="1020" b="0">
                <a:solidFill>
                  <a:srgbClr val="C9D5DF"/>
                </a:solidFill>
              </a:rPr>
              <a:t>Price-impact checks</a:t>
            </a:r>
          </a:p>
          <a:p>
            <a:r>
              <a:rPr sz="1020" b="0">
                <a:solidFill>
                  <a:srgbClr val="C9D5DF"/>
                </a:solidFill>
              </a:rPr>
              <a:t>Self-healing reference failures</a:t>
            </a:r>
          </a:p>
          <a:p>
            <a:r>
              <a:rPr sz="1020" b="0">
                <a:solidFill>
                  <a:srgbClr val="C9D5DF"/>
                </a:solidFill>
              </a:rPr>
              <a:t>&gt;=30% abnormal deviation blocks preparation</a:t>
            </a:r>
          </a:p>
          <a:p>
            <a:r>
              <a:rPr sz="1020" b="0">
                <a:solidFill>
                  <a:srgbClr val="C9D5DF"/>
                </a:solidFill>
              </a:rPr>
              <a:t>No “widen slippage to survive” behavior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15" y="1663887"/>
            <a:ext cx="158098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Oracle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15" y="2002368"/>
            <a:ext cx="2823671" cy="95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Trading can remain live while oracle is OFF</a:t>
            </a:r>
          </a:p>
          <a:p>
            <a:r>
              <a:rPr sz="1020" b="0">
                <a:solidFill>
                  <a:srgbClr val="C9D5DF"/>
                </a:solidFill>
              </a:rPr>
              <a:t>Real TWAP history must accumulate</a:t>
            </a:r>
          </a:p>
          <a:p>
            <a:r>
              <a:rPr sz="1020" b="0">
                <a:solidFill>
                  <a:srgbClr val="C9D5DF"/>
                </a:solidFill>
              </a:rPr>
              <a:t>Liquidity manipulation resistance is measured </a:t>
            </a:r>
          </a:p>
          <a:p>
            <a:r>
              <a:rPr sz="1020" b="0">
                <a:solidFill>
                  <a:srgbClr val="C9D5DF"/>
                </a:solidFill>
              </a:rPr>
              <a:t>separately</a:t>
            </a:r>
          </a:p>
          <a:p>
            <a:r>
              <a:rPr sz="1020" b="0">
                <a:solidFill>
                  <a:srgbClr val="C9D5DF"/>
                </a:solidFill>
              </a:rPr>
              <a:t>Dynamic staking stays disabled until owner-</a:t>
            </a:r>
          </a:p>
          <a:p>
            <a:r>
              <a:rPr sz="1020" b="0">
                <a:solidFill>
                  <a:srgbClr val="C9D5DF"/>
                </a:solidFill>
              </a:rPr>
              <a:t>approved gates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4276" y="5447944"/>
            <a:ext cx="8648394" cy="31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7FA"/>
                </a:solidFill>
              </a:rPr>
              <a:t>Trading utility is live today. Oracle activation is a separate security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0308" y="676721"/>
            <a:ext cx="6531256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Staking + verified rewards: current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9864"/>
            <a:ext cx="4372166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STAKING &amp; REWARDS — VERIFIED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36662"/>
            <a:ext cx="10727537" cy="185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Flexible and 30D completed real-mainnet claim/withdrawal evidence. 30D position #2 is closed; both receipts rechecked</a:t>
            </a:r>
          </a:p>
          <a:p>
            <a:r>
              <a:rPr sz="1300" b="0">
                <a:solidFill>
                  <a:srgbClr val="FFFFFF"/>
                </a:solidFill>
              </a:rPr>
              <a:t>successfully. Positions #4/#5/#6 are open with 100 FLOW each for 90D/180D/365D; real maturity is still in progress, not verified.</a:t>
            </a:r>
          </a:p>
          <a:p>
            <a:r>
              <a:rPr sz="1300" b="0">
                <a:solidFill>
                  <a:srgbClr val="FFFFFF"/>
                </a:solidFill>
              </a:rPr>
              <a:t>Unlock times: #4 2027-01-09 16:11:06 UTC; #5 2027-04-09 16:11:53 UTC; #6 2027-10-11 16:12:15 UTC.</a:t>
            </a:r>
          </a:p>
          <a:p>
            <a:r>
              <a:rPr sz="1300" b="0">
                <a:solidFill>
                  <a:srgbClr val="FFFFFF"/>
                </a:solidFill>
              </a:rPr>
              <a:t>All five products passed historical local-fork lifecycle simulations, recorded separately from real maturity. Longer terms remain</a:t>
            </a:r>
          </a:p>
          <a:p>
            <a:r>
              <a:rPr sz="1300" b="0">
                <a:solidFill>
                  <a:srgbClr val="FFFFFF"/>
                </a:solidFill>
              </a:rPr>
              <a:t>canary-only in the application. Withdraw returns principal; rewards are claimed separately, including after closure.</a:t>
            </a:r>
          </a:p>
          <a:p>
            <a:r>
              <a:rPr sz="1300" b="0">
                <a:solidFill>
                  <a:srgbClr val="FFFFFF"/>
                </a:solidFill>
              </a:rPr>
              <a:t>Live variable price oracle remains the zero address; no oracle or configuration activation. Genesis reward-days are shared per</a:t>
            </a:r>
          </a:p>
          <a:p>
            <a:r>
              <a:rPr sz="1300" b="0">
                <a:solidFill>
                  <a:srgbClr val="FFFFFF"/>
                </a:solidFill>
              </a:rPr>
              <a:t>wallet, not reset per position. Governance / Treasury / Operations Safe thresholds read live: 2 signatures each.</a:t>
            </a:r>
          </a:p>
          <a:p>
            <a:r>
              <a:rPr sz="1300" b="0">
                <a:solidFill>
                  <a:srgbClr val="FFFFFF"/>
                </a:solidFill>
              </a:rPr>
              <a:t>Funded Merkle distributor and historical reward claims are production evidence, not BOT Chain incentive-monitoring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7478955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Security is part of the product, not a footnote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6477624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FlowBridge uses staged activation, explicit wallet consent and evidence-backed settlement.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035" y="1663887"/>
            <a:ext cx="1242377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Non-custodial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035" y="2002368"/>
            <a:ext cx="2242010" cy="176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User wallet signs every state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595" y="1663887"/>
            <a:ext cx="1607478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Fresh revalidation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595" y="2002368"/>
            <a:ext cx="4387597" cy="176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Locked-staking terms are re-quoted independently before openPosition.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035" y="3126927"/>
            <a:ext cx="139087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Role separation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035" y="3465409"/>
            <a:ext cx="4452008" cy="17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Governance, Treasury, Operations, attester and publishers are separated.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595" y="3126927"/>
            <a:ext cx="1763444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Principal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595" y="3465409"/>
            <a:ext cx="3321997" cy="17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Staking principal is never counted as reward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035" y="4589967"/>
            <a:ext cx="92244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Fail closed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035" y="4928449"/>
            <a:ext cx="3588072" cy="17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No dynamic rate when the oracle is absent, stale or unsafe.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595" y="4589967"/>
            <a:ext cx="181483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Evidence settlement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595" y="4928449"/>
            <a:ext cx="3531177" cy="17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Receipt + live post-state before FlowBridge marks success.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8200" y="6047570"/>
            <a:ext cx="8732675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Production hardening includes hostile-path tests, mainnet canaries, contract verification and explicit authority boundaries.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6279285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Why FlowBridge matters to BOT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718803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FlowBridge is designed to turn one-off transactions into repeated, verifiable ecosystem participation.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3320" y="1755327"/>
            <a:ext cx="2246273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More real on-chain usage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3320" y="2094177"/>
            <a:ext cx="1899338" cy="332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Swaps, staking, rewards, batch </a:t>
            </a:r>
          </a:p>
          <a:p>
            <a:r>
              <a:rPr sz="1020" b="0">
                <a:solidFill>
                  <a:srgbClr val="C9D5DF"/>
                </a:solidFill>
              </a:rPr>
              <a:t>transfers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9361" y="2555605"/>
            <a:ext cx="92084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DEX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9361" y="2894455"/>
            <a:ext cx="2081302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FLOW liquidity and guarded BDEX </a:t>
            </a:r>
          </a:p>
          <a:p>
            <a:r>
              <a:rPr sz="1020" b="0">
                <a:solidFill>
                  <a:srgbClr val="C9D5DF"/>
                </a:solidFill>
              </a:rPr>
              <a:t>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9361" y="4155805"/>
            <a:ext cx="193096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BOT gas consumption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9361" y="4494655"/>
            <a:ext cx="2150122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Every genuine on-chain interaction </a:t>
            </a:r>
          </a:p>
          <a:p>
            <a:r>
              <a:rPr sz="1020" b="0">
                <a:solidFill>
                  <a:srgbClr val="C9D5DF"/>
                </a:solidFill>
              </a:rPr>
              <a:t>uses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320" y="4955728"/>
            <a:ext cx="880654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Retention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320" y="5294577"/>
            <a:ext cx="2368115" cy="332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Rewards + staking + missions after the </a:t>
            </a:r>
          </a:p>
          <a:p>
            <a:r>
              <a:rPr sz="1020" b="0">
                <a:solidFill>
                  <a:srgbClr val="C9D5DF"/>
                </a:solidFill>
              </a:rPr>
              <a:t>first trade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47279" y="4155805"/>
            <a:ext cx="861270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7279" y="4494655"/>
            <a:ext cx="2031664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Verified BOT projects, routes and </a:t>
            </a:r>
          </a:p>
          <a:p>
            <a:r>
              <a:rPr sz="1020" b="0">
                <a:solidFill>
                  <a:srgbClr val="C9D5DF"/>
                </a:solidFill>
              </a:rPr>
              <a:t>education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7279" y="2555605"/>
            <a:ext cx="1169463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Builder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7279" y="2894455"/>
            <a:ext cx="2171895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Mainnet EVM deployments + public </a:t>
            </a:r>
          </a:p>
          <a:p>
            <a:r>
              <a:rPr sz="1020" b="0">
                <a:solidFill>
                  <a:srgbClr val="C9D5DF"/>
                </a:solidFill>
              </a:rPr>
              <a:t>security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1645" y="3153518"/>
            <a:ext cx="1586603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99" b="1">
                <a:solidFill>
                  <a:srgbClr val="F5F7FA"/>
                </a:solidFill>
              </a:rPr>
              <a:t>FLOWBRIDGE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1401" y="3632994"/>
            <a:ext cx="910753" cy="17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D5DF"/>
                </a:solidFill>
              </a:rPr>
              <a:t>BOT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723" y="3785636"/>
            <a:ext cx="721664" cy="173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D5DF"/>
                </a:solidFill>
              </a:rPr>
              <a:t>growth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7606051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Execution credibility: recognized by BOT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6336302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FlowBridge is already a BOT Chain-recognized builder with mainnet production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62595" y="1755327"/>
            <a:ext cx="280095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BOT Chain Builder Challenge 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595" y="2094177"/>
            <a:ext cx="1398420" cy="332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1st Place</a:t>
            </a:r>
          </a:p>
          <a:p>
            <a:r>
              <a:rPr sz="1020" b="0">
                <a:solidFill>
                  <a:srgbClr val="C9D5DF"/>
                </a:solidFill>
              </a:rPr>
              <a:t>EVM Deployment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2595" y="3401247"/>
            <a:ext cx="2474972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How we use the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595" y="3739729"/>
            <a:ext cx="3375654" cy="798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Lead with the exact credential in the application, deck, </a:t>
            </a:r>
          </a:p>
          <a:p>
            <a:r>
              <a:rPr sz="1020" b="0">
                <a:solidFill>
                  <a:srgbClr val="C9D5DF"/>
                </a:solidFill>
              </a:rPr>
              <a:t>website and repository. Request winner-to-incubation / </a:t>
            </a:r>
          </a:p>
          <a:p>
            <a:r>
              <a:rPr sz="1020" b="0">
                <a:solidFill>
                  <a:srgbClr val="C9D5DF"/>
                </a:solidFill>
              </a:rPr>
              <a:t>technical-review consideration, official certification and </a:t>
            </a:r>
          </a:p>
          <a:p>
            <a:r>
              <a:rPr sz="1020" b="0">
                <a:solidFill>
                  <a:srgbClr val="C9D5DF"/>
                </a:solidFill>
              </a:rPr>
              <a:t>case-study visibility - without treating the award as </a:t>
            </a:r>
          </a:p>
          <a:p>
            <a:r>
              <a:rPr sz="1020" b="0">
                <a:solidFill>
                  <a:srgbClr val="C9D5DF"/>
                </a:solidFill>
              </a:rPr>
              <a:t>automatic funding eligibility.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284" y="6271529"/>
            <a:ext cx="3092869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5F7588"/>
                </a:solidFill>
              </a:rPr>
              <a:t>Evidence: project-supplied official award graphic; BOT Chain award announcement.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17076" y="676721"/>
            <a:ext cx="5158005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Option A - DEX Liquidity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9864"/>
            <a:ext cx="2526411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APPLICATION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36662"/>
            <a:ext cx="821620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APPLICATION: READY TO SUBMIT</a:t>
            </a:r>
          </a:p>
          <a:p>
            <a:r>
              <a:rPr sz="1300" b="0">
                <a:solidFill>
                  <a:srgbClr val="FFFFFF"/>
                </a:solidFill>
              </a:rPr>
              <a:t>REQUESTEDSUPPORT: OPTION A - DEX LIQUIDITY SUPPORT</a:t>
            </a:r>
          </a:p>
          <a:p>
            <a:r>
              <a:rPr sz="1300" b="0">
                <a:solidFill>
                  <a:srgbClr val="FFFFFF"/>
                </a:solidFill>
              </a:rPr>
              <a:t>PROGRAM: NOT YET APPROVED / MONITORING NOT YET STARTED</a:t>
            </a:r>
          </a:p>
          <a:p>
            <a:r>
              <a:rPr sz="1300" b="0">
                <a:solidFill>
                  <a:srgbClr val="FFFFFF"/>
                </a:solidFill>
              </a:rPr>
              <a:t>QUALIFICATION: PENDING PROGRAM ONBOARDING</a:t>
            </a:r>
          </a:p>
          <a:p>
            <a:r>
              <a:rPr sz="1300" b="0">
                <a:solidFill>
                  <a:srgbClr val="FFFFFF"/>
                </a:solidFill>
              </a:rPr>
              <a:t>MONITORINGWINDOW: TO BE CONFIRMED BY BOT CHAIN AFTER APPROVAL</a:t>
            </a:r>
          </a:p>
          <a:p>
            <a:r>
              <a:rPr sz="1300" b="0">
                <a:solidFill>
                  <a:srgbClr val="FFFFFF"/>
                </a:solidFill>
              </a:rPr>
              <a:t>ACTIVITY: SUPPORTING PROOF OF MAINNET READINESS AND GENUINE ECOSYSTEM PARTICIPATION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11462"/>
            <a:ext cx="1092103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FlowBridge is applying for Option A - DEX Liquidity Support. We are submitting the project's production deployment, technical</a:t>
            </a:r>
          </a:p>
          <a:p>
            <a:r>
              <a:rPr sz="1300" b="0">
                <a:solidFill>
                  <a:srgbClr val="FFFFFF"/>
                </a:solidFill>
              </a:rPr>
              <a:t>architecture, verified contracts, on-chain evidence, ecosystem contribution and mainnet readiness for BOT Chain's evaluation. Any</a:t>
            </a:r>
          </a:p>
          <a:p>
            <a:r>
              <a:rPr sz="1300" b="0">
                <a:solidFill>
                  <a:srgbClr val="FFFFFF"/>
                </a:solidFill>
              </a:rPr>
              <a:t>support level, incentive allocation, rebate, points or other program benefit will be determined by BOT Chain according to its current</a:t>
            </a:r>
          </a:p>
          <a:p>
            <a:r>
              <a:rPr sz="1300" b="0">
                <a:solidFill>
                  <a:srgbClr val="FFFFFF"/>
                </a:solidFill>
              </a:rPr>
              <a:t>program rules and review process.</a:t>
            </a:r>
          </a:p>
          <a:p>
            <a:r>
              <a:rPr sz="1300" b="0">
                <a:solidFill>
                  <a:srgbClr val="FFFFFF"/>
                </a:solidFill>
              </a:rPr>
              <a:t>Pre-application activity is product-readiness evidence, not monitoring-period performance. No prequalification blocker asserted by</a:t>
            </a:r>
          </a:p>
          <a:p>
            <a:r>
              <a:rPr sz="1300" b="0">
                <a:solidFill>
                  <a:srgbClr val="FFFFFF"/>
                </a:solidFill>
              </a:rPr>
              <a:t>the supplied application form. Support is determined solely by BOT 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F5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124" y="197307"/>
            <a:ext cx="11293500" cy="19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99" b="1">
                <a:solidFill>
                  <a:srgbClr val="20F59A"/>
                </a:solidFill>
              </a:rPr>
              <a:t>FLOWBRIDGE</a:t>
            </a:r>
          </a:p>
          <a:p>
            <a:r>
              <a:rPr sz="901" b="0">
                <a:solidFill>
                  <a:srgbClr val="8EA3B5"/>
                </a:solidFill>
              </a:rPr>
              <a:t>BOT Mainnet 677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124" y="6579913"/>
            <a:ext cx="184083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Earn. Learn. Grow. Support BOT 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284" y="597857"/>
            <a:ext cx="3297276" cy="449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99" b="1">
                <a:solidFill>
                  <a:srgbClr val="F5F7FA"/>
                </a:solidFill>
              </a:rPr>
              <a:t>The partnership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635" y="1137165"/>
            <a:ext cx="5573807" cy="20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99" b="0">
                <a:solidFill>
                  <a:srgbClr val="8EA3B5"/>
                </a:solidFill>
              </a:rPr>
              <a:t>Use the Ecosystem Support Program to scale real usage - not artificial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15" y="1511246"/>
            <a:ext cx="2887436" cy="777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1. Liquidity + market </a:t>
            </a:r>
          </a:p>
          <a:p>
            <a:r>
              <a:rPr sz="1400" b="1">
                <a:solidFill>
                  <a:srgbClr val="F5F7FA"/>
                </a:solidFill>
              </a:rPr>
              <a:t>infrastructure</a:t>
            </a:r>
          </a:p>
          <a:p>
            <a:r>
              <a:rPr sz="1020" b="0">
                <a:solidFill>
                  <a:srgbClr val="C9D5DF"/>
                </a:solidFill>
              </a:rPr>
              <a:t>Scheme A support, market-maker coordination </a:t>
            </a:r>
          </a:p>
          <a:p>
            <a:r>
              <a:rPr sz="1020" b="0">
                <a:solidFill>
                  <a:srgbClr val="C9D5DF"/>
                </a:solidFill>
              </a:rPr>
              <a:t>and deeper FLOW trading liquidity.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635" y="1618167"/>
            <a:ext cx="2213373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2. Technical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3635" y="1956649"/>
            <a:ext cx="3085081" cy="33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Dedicated technical account management for </a:t>
            </a:r>
          </a:p>
          <a:p>
            <a:r>
              <a:rPr sz="1020" b="0">
                <a:solidFill>
                  <a:srgbClr val="C9D5DF"/>
                </a:solidFill>
              </a:rPr>
              <a:t>routing, oracle readiness and program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6955" y="1618167"/>
            <a:ext cx="1273855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3.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6955" y="1956649"/>
            <a:ext cx="2883676" cy="487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Official wallet / DApp-store visibility, ecosystem </a:t>
            </a:r>
          </a:p>
          <a:p>
            <a:r>
              <a:rPr sz="1020" b="0">
                <a:solidFill>
                  <a:srgbClr val="C9D5DF"/>
                </a:solidFill>
              </a:rPr>
              <a:t>directory / leaderboard listing and Launchpad </a:t>
            </a:r>
          </a:p>
          <a:p>
            <a:r>
              <a:rPr sz="1020" b="0">
                <a:solidFill>
                  <a:srgbClr val="C9D5DF"/>
                </a:solidFill>
              </a:rPr>
              <a:t>consideration.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15" y="3401247"/>
            <a:ext cx="197329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4. Brand endorsement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15" y="3739729"/>
            <a:ext cx="2985674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Official certification badge, Builder Challenge </a:t>
            </a:r>
          </a:p>
          <a:p>
            <a:r>
              <a:rPr sz="1020" b="0">
                <a:solidFill>
                  <a:srgbClr val="C9D5DF"/>
                </a:solidFill>
              </a:rPr>
              <a:t>winner case study, media and roadshow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635" y="3401247"/>
            <a:ext cx="1928476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5. Community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635" y="3739729"/>
            <a:ext cx="3096616" cy="33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Coordinated education and campaigns focused on </a:t>
            </a:r>
          </a:p>
          <a:p>
            <a:r>
              <a:rPr sz="1020" b="0">
                <a:solidFill>
                  <a:srgbClr val="C9D5DF"/>
                </a:solidFill>
              </a:rPr>
              <a:t>genuine users and verifiable interaction.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6955" y="3401247"/>
            <a:ext cx="1893621" cy="242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7FA"/>
                </a:solidFill>
              </a:rPr>
              <a:t>6. CEX readiness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6955" y="3739729"/>
            <a:ext cx="3041278" cy="487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20" b="0">
                <a:solidFill>
                  <a:srgbClr val="C9D5DF"/>
                </a:solidFill>
              </a:rPr>
              <a:t>Future recommendation / introduction only when </a:t>
            </a:r>
          </a:p>
          <a:p>
            <a:r>
              <a:rPr sz="1020" b="0">
                <a:solidFill>
                  <a:srgbClr val="C9D5DF"/>
                </a:solidFill>
              </a:rPr>
              <a:t>FLOW meets the program and exchange </a:t>
            </a:r>
          </a:p>
          <a:p>
            <a:r>
              <a:rPr sz="1020" b="0">
                <a:solidFill>
                  <a:srgbClr val="C9D5DF"/>
                </a:solidFill>
              </a:rPr>
              <a:t>requirements.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275" y="5192317"/>
            <a:ext cx="10031340" cy="27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98" b="1">
                <a:solidFill>
                  <a:srgbClr val="F5F7FA"/>
                </a:solidFill>
              </a:rPr>
              <a:t>Request expedited technical review for a prior BOT Chain Builder Challenge winner if that pathway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044" y="5436030"/>
            <a:ext cx="1187956" cy="276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98" b="1">
                <a:solidFill>
                  <a:srgbClr val="F5F7FA"/>
                </a:solidFill>
              </a:rPr>
              <a:t>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284" y="6271529"/>
            <a:ext cx="3659755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" b="0">
                <a:solidFill>
                  <a:srgbClr val="5F7588"/>
                </a:solidFill>
              </a:rPr>
              <a:t>Source: BOT Chain Ecosystem Support Program systematic support model and application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1444" y="6575950"/>
            <a:ext cx="254000" cy="138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99" b="0">
                <a:solidFill>
                  <a:srgbClr val="71879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77307" y="676721"/>
            <a:ext cx="4437153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Use the deployed stack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3762"/>
            <a:ext cx="10860442" cy="113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Engineering readiness and production deployment are supported by canonical evidence. Flexible and 30D real-mainnet lifecycle</a:t>
            </a:r>
          </a:p>
          <a:p>
            <a:r>
              <a:rPr sz="1300" b="0">
                <a:solidFill>
                  <a:srgbClr val="FFFFFF"/>
                </a:solidFill>
              </a:rPr>
              <a:t>proof is complete. Long-term real-maturity follow-ups are scheduled, not represented as already complete.</a:t>
            </a:r>
          </a:p>
          <a:p>
            <a:r>
              <a:rPr sz="1300" b="0">
                <a:solidFill>
                  <a:srgbClr val="FFFFFF"/>
                </a:solidFill>
              </a:rPr>
              <a:t>Any future liquidity, oracle, role or configuration activation needs separate owner approval and security gates. This documentation</a:t>
            </a:r>
          </a:p>
          <a:p>
            <a:r>
              <a:rPr sz="1300" b="0">
                <a:solidFill>
                  <a:srgbClr val="FFFFFF"/>
                </a:solidFill>
              </a:rPr>
              <a:t>refresh performs none.</a:t>
            </a:r>
          </a:p>
          <a:p>
            <a:r>
              <a:rPr sz="1300" b="0">
                <a:solidFill>
                  <a:srgbClr val="FFFFFF"/>
                </a:solidFill>
              </a:rPr>
              <a:t>No incentive-monitoring window is assigned until BOT Chain approval and onboarding.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92245" y="676721"/>
            <a:ext cx="5007687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Ready for BOT Chain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9864"/>
            <a:ext cx="2526411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APPLICATION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436662"/>
            <a:ext cx="821620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APPLICATION: READY TO SUBMIT</a:t>
            </a:r>
          </a:p>
          <a:p>
            <a:r>
              <a:rPr sz="1300" b="0">
                <a:solidFill>
                  <a:srgbClr val="FFFFFF"/>
                </a:solidFill>
              </a:rPr>
              <a:t>REQUESTEDSUPPORT: OPTION A - DEX LIQUIDITY SUPPORT</a:t>
            </a:r>
          </a:p>
          <a:p>
            <a:r>
              <a:rPr sz="1300" b="0">
                <a:solidFill>
                  <a:srgbClr val="FFFFFF"/>
                </a:solidFill>
              </a:rPr>
              <a:t>PROGRAM: NOT YET APPROVED / MONITORING NOT YET STARTED</a:t>
            </a:r>
          </a:p>
          <a:p>
            <a:r>
              <a:rPr sz="1300" b="0">
                <a:solidFill>
                  <a:srgbClr val="FFFFFF"/>
                </a:solidFill>
              </a:rPr>
              <a:t>QUALIFICATION: PENDING PROGRAM ONBOARDING</a:t>
            </a:r>
          </a:p>
          <a:p>
            <a:r>
              <a:rPr sz="1300" b="0">
                <a:solidFill>
                  <a:srgbClr val="FFFFFF"/>
                </a:solidFill>
              </a:rPr>
              <a:t>MONITORINGWINDOW: TO BE CONFIRMED BY BOT CHAIN AFTER APPROVAL</a:t>
            </a:r>
          </a:p>
          <a:p>
            <a:r>
              <a:rPr sz="1300" b="0">
                <a:solidFill>
                  <a:srgbClr val="FFFFFF"/>
                </a:solidFill>
              </a:rPr>
              <a:t>ACTIVITY: SUPPORTING PROOF OF MAINNET READINESS AND GENUINE ECOSYSTEM PARTICIPATION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11462"/>
            <a:ext cx="10921034" cy="113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FlowBridge is applying for Option A - DEX Liquidity Support. We are submitting the project's production deployment, technical</a:t>
            </a:r>
          </a:p>
          <a:p>
            <a:r>
              <a:rPr sz="1300" b="0">
                <a:solidFill>
                  <a:srgbClr val="FFFFFF"/>
                </a:solidFill>
              </a:rPr>
              <a:t>architecture, verified contracts, on-chain evidence, ecosystem contribution and mainnet readiness for BOT Chain's evaluation. Any</a:t>
            </a:r>
          </a:p>
          <a:p>
            <a:r>
              <a:rPr sz="1300" b="0">
                <a:solidFill>
                  <a:srgbClr val="FFFFFF"/>
                </a:solidFill>
              </a:rPr>
              <a:t>support level, incentive allocation, rebate, points or other program benefit will be determined by BOT Chain according to its current</a:t>
            </a:r>
          </a:p>
          <a:p>
            <a:r>
              <a:rPr sz="1300" b="0">
                <a:solidFill>
                  <a:srgbClr val="FFFFFF"/>
                </a:solidFill>
              </a:rPr>
              <a:t>program rules and review process.</a:t>
            </a:r>
          </a:p>
          <a:p>
            <a:r>
              <a:rPr sz="1300" b="0">
                <a:solidFill>
                  <a:srgbClr val="FFFFFF"/>
                </a:solidFill>
              </a:rPr>
              <a:t>Compliance is an OWNER ACTION. No application submitted. No monetary ask or entitlement.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33104" y="676721"/>
            <a:ext cx="532564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Sources &amp; submission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93762"/>
            <a:ext cx="10779420" cy="32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9333D"/>
                </a:solidFill>
              </a:rPr>
              <a:t>Final copy-ready answers follow the owner-verified current 16-field form snapshot. Compliance remains OWNER ACTION, with nothing accepted or submitted. Refresh private reviewer links; links expire after seven</a:t>
            </a:r>
          </a:p>
          <a:p>
            <a:r>
              <a:rPr sz="900" b="0">
                <a:solidFill>
                  <a:srgbClr val="29333D"/>
                </a:solidFill>
              </a:rPr>
              <a:t>days.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5364"/>
            <a:ext cx="6526528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</a:rPr>
              <a:t>VERIFIED SMART CONTRACTS &amp; ON-CHAIN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071413"/>
            <a:ext cx="350923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FLOW Token | BOT Mainnet | Chain 677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73162"/>
            <a:ext cx="628337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Fixed-supply FLOW token; no future mint authority.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083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0xcaaB50F36252a57529AFeF651fa6B9f9281917fF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https://scan.botchain.ai/address/0xcaaB50F36252a57529AFeF651fa6B9f9281917fF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2560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contracts/production/V30_2B_R1_SETTLEMENT.json; code present at block 26336087.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722413"/>
            <a:ext cx="4164076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Rewards Distributor | BOT Mainnet | Chain 677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24162"/>
            <a:ext cx="6751435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Funded Merkle round claims; explicit publisher authority.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593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0x7b805B036B22E2B71Ef5E8f7EA21D8791819b922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https://scan.botchain.ai/address/0x7b805B036B22E2B71Ef5E8f7EA21D8791819b922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070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contracts/production/V30_2B_R2_SETTLEMENT.json; code present at block 26336087.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373413"/>
            <a:ext cx="3853815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Activity Registry | BOT Mainnet | Chain 677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75162"/>
            <a:ext cx="5722532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DEPLOYED SUPPORTING — Controlled canonical activity attestations.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9103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0x86590b7C8A2Ad9a1dAD8183Eaf627AE4B7Ff3814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https://scan.botchain.ai/address/0x86590b7C8A2Ad9a1dAD8183Eaf627AE4B7Ff3814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5580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contracts/production/V30_2B_R3_SETTLEMENT.json; code present at block 26336087.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463293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Staking Reward Treasury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7674179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Segregated pre-funded reward inventory and obligation accounting.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0x96552909998F3DbAf5Ff4979dc158508b3442e65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https://scan.botchain.ai/address/0x96552909998F3DbAf5Ff4979dc158508b3442e65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contracts/production/V30_2B_R4_SETTLEMENT.json;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428906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Staking Controller V2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7898219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Genesis/floor economics; variable rewards disabled while oracle unset.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0x44b9b880C6188D8b8dbe4f68216aE28a5A1253bF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https://scan.botchain.ai/address/0x44b9b880C6188D8b8dbe4f68216aE28a5A1253bF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contracts/production/V30_2B_R5_SETTLEMENT.json;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3873017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Staking Vault V2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7769440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Principal custody, positions, reward claims and maturity withdrawals.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992762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0x15e7B1b4b16a43E6CE2E1f460dBE4201E9B6790D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https://scan.botchain.ai/address/0x15e7B1b4b16a43E6CE2E1f460dBE4201E9B6790D</a:t>
            </a:r>
          </a:p>
          <a:p>
            <a:r>
              <a:rPr sz="1300" b="0">
                <a:solidFill>
                  <a:srgbClr val="FFFFFF"/>
                </a:solidFill>
              </a:rPr>
              <a:t>Explorer verification and runtime parity recorded in canonical settlement; fresh code hash included in private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contracts/production/V30_2B_R6_SETTLEMENT.json; code present at block 26336087.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281655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Router V3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8050111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Current single-step / staged execution dispatcher; platform fee retained.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9007855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0x986962de6f00d0ec571b1a34fa70aeeb445b5445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https://scan.botchain.ai/address/0x986962de6f00d0ec571b1a34fa70aeeb445b5445</a:t>
            </a:r>
          </a:p>
          <a:p>
            <a:r>
              <a:rPr sz="1300" b="0">
                <a:solidFill>
                  <a:srgbClr val="FFFFFF"/>
                </a:solidFill>
              </a:rPr>
              <a:t>Recorded deployment; fresh bytecode presence check. Explorer source status not independently rechecked.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4426533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281655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Router V4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10045179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Promoted atomic native BOT / BDEX V3 multi-pool execution; other route classes remain staged.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6540933" cy="818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0x79653140D84B78C19354ee984f236Ec92160fc61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https://scan.botchain.ai/address/0x79653140D84B78C19354ee984f236Ec92160fc61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in promotion record; frozen runtime SHA256</a:t>
            </a:r>
          </a:p>
          <a:p>
            <a:r>
              <a:rPr sz="1300" b="0">
                <a:solidFill>
                  <a:srgbClr val="FFFFFF"/>
                </a:solidFill>
              </a:rPr>
              <a:t>a42e53b15977c57b81fa63c575b9cb39100b873c50a523b68f02df7bd8bec41d.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729260"/>
            <a:ext cx="5569698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src/lib/swap/executionCapability.ts;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195613"/>
            <a:ext cx="3460699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Router Lens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497362"/>
            <a:ext cx="587574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DEPLOYED SUPPORTING — Read-only lens bound to current Router V4.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32560"/>
            <a:ext cx="674780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0xb82038aC3d2df60f5B5fE06D6FDe3CFDd1B76BD0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https://scan.botchain.ai/address/0xb82038aC3d2df60f5B5fE06D6FDe3CFDd1B76BD0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in Router V4 promotion record; live flowRouter binding checked.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380260"/>
            <a:ext cx="5569698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src/lib/swap/executionCapability.ts; code present at block 26336087.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919423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Governance Safe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6779997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DEPLOYED SUPPORTING — Multisig governance authority; threshold checked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872751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0x88A4CC1F5771523baeB83DaEea07D323a3ce9507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https://scan.botchain.ai/address/0x88A4CC1F5771523baeB83DaEea07D323a3ce9507</a:t>
            </a:r>
          </a:p>
          <a:p>
            <a:r>
              <a:rPr sz="1300" b="0">
                <a:solidFill>
                  <a:srgbClr val="FFFFFF"/>
                </a:solidFill>
              </a:rPr>
              <a:t>Safe deployed code and threshold verified read-only; proxy identity is not an independent contract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contracts/production/V30_2B_R2_SETTLEMENT.json;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62729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Treasury Safe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6495695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DEPLOYED SUPPORTING — Multisig treasury authority; threshold checked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872751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0xeFc13d1A1dC30BA2DA0Bb005ba5A783c6b229Ea4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https://scan.botchain.ai/address/0xeFc13d1A1dC30BA2DA0Bb005ba5A783c6b229Ea4</a:t>
            </a:r>
          </a:p>
          <a:p>
            <a:r>
              <a:rPr sz="1300" b="0">
                <a:solidFill>
                  <a:srgbClr val="FFFFFF"/>
                </a:solidFill>
              </a:rPr>
              <a:t>Safe deployed code and threshold verified read-only; proxy identity is not an independent contract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contracts/production/V30_2B_R2_SETTLEMENT.json;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38211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Operations Safe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7774889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DEPLOYED SUPPORTING — Multisig emergency / operations authority; threshold checked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8727518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0x1Ce0b1DF5d2055f6e92122D8cB7669609C2359eF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https://scan.botchain.ai/address/0x1Ce0b1DF5d2055f6e92122D8cB7669609C2359eF</a:t>
            </a:r>
          </a:p>
          <a:p>
            <a:r>
              <a:rPr sz="1300" b="0">
                <a:solidFill>
                  <a:srgbClr val="FFFFFF"/>
                </a:solidFill>
              </a:rPr>
              <a:t>Safe deployed code and threshold verified read-only; proxy identity is not an independent contract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73060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contracts/production/V30_2B_R2_SETTLEMENT.json; code present at block 26336087.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567023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MultiSend V1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9343338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Distribution, consolidation and advanced batches; exact approvals and 1 bp service fee.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7134631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0xc54CAcfd96330949db0eAEd72dE930a2d06d9778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https://scan.botchain.ai/address/0xc54CAcfd96330949db0eAEd72dE930a2d06d9778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and native/ERC-20 rehearsal recorded in canonical release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542203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src/lib/multisend/deployments.ts;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5227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MultiSend V1 | BOT Testnet | Chain 968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8325001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TESTNET — Distribution, consolidation and advanced batches; exact approvals and 1 bp service fee.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7134631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0x1b97CCbAE4D5128f8E5591ada21476609c7F2960</a:t>
            </a:r>
          </a:p>
          <a:p>
            <a:r>
              <a:rPr sz="1100" b="0">
                <a:solidFill>
                  <a:srgbClr val="FFFFFF"/>
                </a:solidFill>
              </a:rPr>
              <a:t>https://scan.bohr.life/address/0x1b97CCbAE4D5128f8E5591ada21476609c7F2960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and native/ERC-20 rehearsal recorded in canonical release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5422035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src/lib/multisend/deployments.ts; code present at block 26502665.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3460343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MultiSend V1 | BNB Mainnet | Chain 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9343338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ACTIVE PRODUCTION — Distribution, consolidation and advanced batches; exact approvals and 1 bp service fee.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7134631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0xA861152Ca3676bcCf7B5FDAFB9eb6A57b9d32d0e</a:t>
            </a:r>
          </a:p>
          <a:p>
            <a:r>
              <a:rPr sz="1100" b="0">
                <a:solidFill>
                  <a:srgbClr val="FFFFFF"/>
                </a:solidFill>
              </a:rPr>
              <a:t>https://bscscan.com/address/0xA861152Ca3676bcCf7B5FDAFB9eb6A57b9d32d0e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and native/ERC-20 rehearsal recorded in canonical release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551088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src/lib/multisend/deployments.ts; code present at block 127052551.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41607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MultiSend V1 | BNB Testnet | Chain 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8325001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TESTNET — Distribution, consolidation and advanced batches; exact approvals and 1 bp service fee.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7134631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0x535dDDA826142AC42cE288154e9595f080940aE9</a:t>
            </a:r>
          </a:p>
          <a:p>
            <a:r>
              <a:rPr sz="1100" b="0">
                <a:solidFill>
                  <a:srgbClr val="FFFFFF"/>
                </a:solidFill>
              </a:rPr>
              <a:t>https://testnet.bscscan.com/address/0x535dDDA826142AC42cE288154e9595f080940aE9</a:t>
            </a:r>
          </a:p>
          <a:p>
            <a:r>
              <a:rPr sz="1300" b="0">
                <a:solidFill>
                  <a:srgbClr val="FFFFFF"/>
                </a:solidFill>
              </a:rPr>
              <a:t>Explorer verified and native/ERC-20 rehearsal recorded in canonical release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5510884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src/lib/multisend/deployments.ts; code present at block 136198901.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899865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V3 Factory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4316209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pool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0x1C51c173323ec11BB4e3C4fD2314c225Dc4b5419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https://scan.botchain.ai/address/0x1C51c173323ec11BB4e3C4fD2314c225Dc4b5419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4311472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V3 SwapRouter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960353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venue accessed through FlowBridge routing, not a FlowBridge-owned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0x07032d47A1b9f8460cBeE9dC17c1d3E438693929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https://scan.botchain.ai/address/0x07032d47A1b9f8460cBeE9dC17c1d3E438693929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41388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V3 Quoter V2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4240428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route quoting.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0x034A705b36067cff99ABf5C662Be881cBd8d0176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https://scan.botchain.ai/address/0x034A705b36067cff99ABf5C662Be881cBd8d0176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476877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V3 Position Manager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875459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NFT liquidity infrastructure; Mainnet liquidity writes remain disabled.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0xDAc3FcFF004d8a8675b94E44941A1a2e3b240090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https://scan.botchain.ai/address/0xDAc3FcFF004d8a8675b94E44941A1a2e3b240090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362623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Wrapped BOT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492592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wrapped native token.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0xD5452816194a3784dBa983426cCe7c122F4abd30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https://scan.botchain.ai/address/0xD5452816194a3784dBa983426cCe7c122F4abd30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30885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BOT USDT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5893575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stablecoin used by trading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0xababc7ddc03e501d190c676bf3d92ef0e6e87a3c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https://scan.botchain.ai/address/0xababc7ddc03e501d190c676bf3d92ef0e6e87a3c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473605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FLOW/USDT BDEX V3 pool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805093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BDEX V3 1% FLOW/USDT pool; factory binding checked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0xDaCFc2574b6110892351Bd31afb36F95E7206162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https://scan.botchain.ai/address/0xDaCFc2574b6110892351Bd31afb36F95E7206162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4589551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BOT/USDT BDEX V3 pool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6329933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intermediate native-token trading pool.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0x64f418471a1a7932a190e10da5a8551db5abec05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https://scan.botchain.ai/address/0x64f418471a1a7932a190e10da5a8551db5abec05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77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831234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V2 Router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6016077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V2 venue; factory read from router.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0x1414eD29FdFD322c3c0a830330ed982E2D629e76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https://scan.botchain.ai/address/0x1414eD29FdFD322c3c0a830330ed982E2D629e76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760292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CaSwap Router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863324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CaryPact venue; runtime factory differs from historic configuration.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0x5b90611D4eB8FC82Fc2E3d1F0501Dd6F434441AD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https://scan.botchain.ai/address/0x5b90611D4eB8FC82Fc2E3d1F0501Dd6F434441AD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54313"/>
            <a:ext cx="473036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Official BOT Bridge Router | BOT Mainnet | Chain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56062"/>
            <a:ext cx="6627608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Official external BOT Bridge, not FlowBridge-owned.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91260"/>
            <a:ext cx="8703742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0xef8dc669eca13e612b67ff09478352e85bd6cc53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https://scan.botchain.ai/address/0xef8dc669eca13e612b67ff09478352e85bd6cc53</a:t>
            </a:r>
          </a:p>
          <a:p>
            <a:r>
              <a:rPr sz="1300" b="0">
                <a:solidFill>
                  <a:srgbClr val="FFFFFF"/>
                </a:solidFill>
              </a:rPr>
              <a:t>Fresh bytecode presence check; external protocol integration, not FlowBridge source ownership or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138960"/>
            <a:ext cx="6663689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src/lib/contracts.ts / src/lib/swap/dexVerification.ts; code present at block 26336087.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6501407"/>
            <a:ext cx="11125153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91A6B9"/>
                </a:solidFill>
              </a:rPr>
              <a:t>FlowBridge | 11 Oct 2026 | PRIVATE REVIEWER MATERIAL</a:t>
            </a:r>
          </a:p>
          <a:p>
            <a:r>
              <a:rPr sz="800" b="0">
                <a:solidFill>
                  <a:srgbClr val="91A6B9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52313"/>
            <a:ext cx="3899865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BDEX V2 Factory | BOT Mainnet | Chain 677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4062"/>
            <a:ext cx="913465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factory discovered from its live router; not inferred from historic address.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89260"/>
            <a:ext cx="9007855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0x117115f3b72c8d1989178089a67d0c26f8ee0aa3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https://scan.botchain.ai/address/0x117115f3b72c8d1989178089a67d0c26f8ee0aa3</a:t>
            </a:r>
          </a:p>
          <a:p>
            <a:r>
              <a:rPr sz="1300" b="0">
                <a:solidFill>
                  <a:srgbClr val="FFFFFF"/>
                </a:solidFill>
              </a:rPr>
              <a:t>Recorded deployment; fresh bytecode presence check. Explorer source status not independently rechecked.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36960"/>
            <a:ext cx="4538573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Live router.factory(); code present at block 26336087.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303313"/>
            <a:ext cx="3828923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</a:rPr>
              <a:t>CaSwap Factory | BOT Mainnet | Chain 677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605062"/>
            <a:ext cx="9134654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</a:rPr>
              <a:t>EXTERNAL INTEGRATION — External factory discovered from its live router; not inferred from historic address.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40260"/>
            <a:ext cx="9007855" cy="5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0x9c937ebc3748825026677e20b13b5e306494a38d</a:t>
            </a:r>
          </a:p>
          <a:p>
            <a:r>
              <a:rPr sz="1100" b="0">
                <a:solidFill>
                  <a:srgbClr val="FFFFFF"/>
                </a:solidFill>
              </a:rPr>
              <a:t>https://scan.botchain.ai/address/0x9c937ebc3748825026677e20b13b5e306494a38d</a:t>
            </a:r>
          </a:p>
          <a:p>
            <a:r>
              <a:rPr sz="1300" b="0">
                <a:solidFill>
                  <a:srgbClr val="FFFFFF"/>
                </a:solidFill>
              </a:rPr>
              <a:t>Recorded deployment; fresh bytecode presence check. Explorer source status not independently rechecked.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87960"/>
            <a:ext cx="4538573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</a:rPr>
              <a:t>Evidence: Live router.factory(); code present at block 26336087.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